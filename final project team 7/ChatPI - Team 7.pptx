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Alfa Slab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CE1501-1252-4854-AE42-5E389661363E}">
  <a:tblStyle styleId="{AECE1501-1252-4854-AE42-5E38966136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89DA10D-59F0-4BBA-8527-44DB8640FBE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AlfaSlabOn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0.xml"/><Relationship Id="rId19" Type="http://schemas.openxmlformats.org/officeDocument/2006/relationships/font" Target="fonts/ProximaNova-italic.fntdata"/><Relationship Id="rId1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1c49c2bd2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1c49c2bd2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1c49c2bd2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1c49c2bd2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1c49c2bd2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1c49c2bd2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1c49c2bd2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1c49c2bd2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0fb3fc9a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a0fb3fc9a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1d098962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a1d098962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1d098962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1d098962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0fb3fc9a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a0fb3fc9a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-Shorter answers translated the same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-Translations did not give different answers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0fb3fc9a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0fb3fc9a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0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ChatPI - Team 7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17411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Austin Rhodes, Alexis Tochiki, Aaron Daniels</a:t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3045102"/>
            <a:ext cx="8520600" cy="13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The Sign of the Four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to Spanish to English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>
                <a:latin typeface="Proxima Nova"/>
                <a:ea typeface="Proxima Nova"/>
                <a:cs typeface="Proxima Nova"/>
                <a:sym typeface="Proxima Nova"/>
              </a:rPr>
              <a:t>QA Pipeline: Context + Question = answer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Directive from Assignment: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 300 words of context to answer questions related to the following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introducing the protagonist(s)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antagonist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crime and crime scene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any significant evidence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resolution of the crime/a narrative that presents the case against the perpetrator</a:t>
            </a:r>
            <a:endParaRPr/>
          </a:p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Questions: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Who is the investigator?</a:t>
            </a:r>
            <a:endParaRPr sz="12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was Jonathan Smalls role?</a:t>
            </a:r>
            <a:endParaRPr sz="12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was the main piece of evidence?</a:t>
            </a:r>
            <a:endParaRPr sz="12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was the murder weapon?</a:t>
            </a:r>
            <a:endParaRPr sz="12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did the crime scene look like?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Proxima Nova"/>
                <a:ea typeface="Proxima Nova"/>
                <a:cs typeface="Proxima Nova"/>
                <a:sym typeface="Proxima Nova"/>
              </a:rPr>
              <a:t>Preprocessing</a:t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850550" y="3786700"/>
            <a:ext cx="1589700" cy="51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Q/A Pipeline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658550" y="1329700"/>
            <a:ext cx="17817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Context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65475" y="3811150"/>
            <a:ext cx="20733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300 word sections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75" y="1378167"/>
            <a:ext cx="1145650" cy="138326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110075" y="1329700"/>
            <a:ext cx="15897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Q/A answers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134650" y="1329700"/>
            <a:ext cx="15897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Known answers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507725" y="2008975"/>
            <a:ext cx="860400" cy="1703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7143250" y="3786700"/>
            <a:ext cx="1589700" cy="51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Correct?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697100" y="3786700"/>
            <a:ext cx="1446300" cy="51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Context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728475" y="2013150"/>
            <a:ext cx="680400" cy="2064300"/>
          </a:xfrm>
          <a:prstGeom prst="bentUpArrow">
            <a:avLst>
              <a:gd fmla="val 25000" name="adj1"/>
              <a:gd fmla="val 25358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696650" y="1329700"/>
            <a:ext cx="438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? =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119200" y="2008975"/>
            <a:ext cx="860400" cy="1703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861250" y="1329700"/>
            <a:ext cx="605100" cy="2382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673000" y="2873425"/>
            <a:ext cx="860400" cy="839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 correct/incorrect answers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2" cy="371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of Correct responses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93888"/>
            <a:ext cx="8520600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Answering - Context Builder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395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Selecting contexts has huge impact on quality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Throwing in all 5 contexts had worse performance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Use regex to identify ‘tags’ in contexts and only select those</a:t>
            </a:r>
            <a:endParaRPr/>
          </a:p>
        </p:txBody>
      </p:sp>
      <p:graphicFrame>
        <p:nvGraphicFramePr>
          <p:cNvPr id="105" name="Google Shape;105;p18"/>
          <p:cNvGraphicFramePr/>
          <p:nvPr/>
        </p:nvGraphicFramePr>
        <p:xfrm>
          <a:off x="4269600" y="144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{AECE1501-1252-4854-AE42-5E389661363E}</a:tableStyleId>
              </a:tblPr>
              <a:tblGrid>
                <a:gridCol w="1242400"/>
                <a:gridCol w="3354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Context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Tags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Culprit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murder, suspect, culprit, criminal, villain, antagonist, killed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Evidence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murder, weapon, kill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Investigator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detective, investigator, protagonist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Crime Scene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crime, crime scene, evidence, clue</a:t>
                      </a:r>
                      <a:endParaRPr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Suspect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accomplice, suspect, involve, treasure</a:t>
                      </a:r>
                      <a:endParaRPr i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Answering - Results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479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8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Context builder greatly improved accuracy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5304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371"/>
              <a:t>Regular vs Distilled model showed no discernable loss in quality, identical accuracy scores, but distilled had faster runtime</a:t>
            </a:r>
            <a:endParaRPr sz="2371"/>
          </a:p>
          <a:p>
            <a:pPr indent="-34867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40"/>
              <a:t>Models compared:</a:t>
            </a:r>
            <a:endParaRPr sz="2440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deepset/roberta-base-squad2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deepset/tinyroberta-squad2</a:t>
            </a:r>
            <a:endParaRPr/>
          </a:p>
        </p:txBody>
      </p:sp>
      <p:graphicFrame>
        <p:nvGraphicFramePr>
          <p:cNvPr id="112" name="Google Shape;112;p19"/>
          <p:cNvGraphicFramePr/>
          <p:nvPr/>
        </p:nvGraphicFramePr>
        <p:xfrm>
          <a:off x="554095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{AECE1501-1252-4854-AE42-5E389661363E}</a:tableStyleId>
              </a:tblPr>
              <a:tblGrid>
                <a:gridCol w="1525700"/>
                <a:gridCol w="1525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Trial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Context Builder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</a:rPr>
                        <a:t>81.25%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 5 contexts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37.50%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" name="Google Shape;113;p19"/>
          <p:cNvGraphicFramePr/>
          <p:nvPr/>
        </p:nvGraphicFramePr>
        <p:xfrm>
          <a:off x="5490425" y="31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{AECE1501-1252-4854-AE42-5E389661363E}</a:tableStyleId>
              </a:tblPr>
              <a:tblGrid>
                <a:gridCol w="1525700"/>
                <a:gridCol w="15257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Trial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Runtime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</a:rPr>
                        <a:t>63</a:t>
                      </a:r>
                      <a:r>
                        <a:rPr lang="en">
                          <a:solidFill>
                            <a:srgbClr val="CC0000"/>
                          </a:solidFill>
                        </a:rPr>
                        <a:t> seconds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Distilled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</a:rPr>
                        <a:t>37</a:t>
                      </a:r>
                      <a:r>
                        <a:rPr lang="en">
                          <a:solidFill>
                            <a:srgbClr val="38761D"/>
                          </a:solidFill>
                        </a:rPr>
                        <a:t> seconds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Answering - Post-processing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37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post-processing is used to make answers sound more realistic:</a:t>
            </a:r>
            <a:endParaRPr/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811450" y="213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{AECE1501-1252-4854-AE42-5E389661363E}</a:tableStyleId>
              </a:tblPr>
              <a:tblGrid>
                <a:gridCol w="2223975"/>
                <a:gridCol w="1208900"/>
                <a:gridCol w="763975"/>
                <a:gridCol w="3042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Question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Response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Score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Final Answer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“Who is the investigator?”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Sherlock Holmes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“Sherlock Holmes, I’m sure of it”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“What killed Sholto?”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poisoned darts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“I think it’s poisoned darts, but it’s hard to say”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Translation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Language: Spanish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Models 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 to ES: Helsinki-NLP/opus-mt-en-es, mrm8488/mbart-large-finetuned-opus-en-es-translation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 to EN: Helsinki-NLP/opus-mt-es-en, Helsinki-NLP/opus-mt-ROMANCE-en</a:t>
            </a:r>
            <a:endParaRPr/>
          </a:p>
        </p:txBody>
      </p:sp>
      <p:graphicFrame>
        <p:nvGraphicFramePr>
          <p:cNvPr id="127" name="Google Shape;127;p21"/>
          <p:cNvGraphicFramePr/>
          <p:nvPr/>
        </p:nvGraphicFramePr>
        <p:xfrm>
          <a:off x="16002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{A89DA10D-59F0-4BBA-8527-44DB8640FBE1}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Sherlock Holmes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Sherlock Holmes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Sherlock Holmes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Sherlock Holmes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scientific detective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detective científico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scientific detective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scientific detective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 o’clock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las diez en punto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 ten o'clock.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 10 a.m.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tiny speck of blood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Una pequeña mancha de sangre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little blood stain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small spot of blood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opposite to the iron box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frente a la caja de hierro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front of the iron box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front of the iron box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lowered the treasure-box to the ground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bajó la caja del tesoro al suelo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 lowered the treasure box to the ground.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treasure box went down to the ground.</a:t>
                      </a:r>
                      <a:endParaRPr sz="1000"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0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Summarization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Models 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Default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Pegasus</a:t>
            </a:r>
            <a:endParaRPr/>
          </a:p>
        </p:txBody>
      </p:sp>
      <p:graphicFrame>
        <p:nvGraphicFramePr>
          <p:cNvPr id="134" name="Google Shape;134;p22"/>
          <p:cNvGraphicFramePr/>
          <p:nvPr/>
        </p:nvGraphicFramePr>
        <p:xfrm>
          <a:off x="952500" y="207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{AECE1501-1252-4854-AE42-5E389661363E}</a:tableStyleId>
              </a:tblPr>
              <a:tblGrid>
                <a:gridCol w="2413000"/>
                <a:gridCol w="2413000"/>
                <a:gridCol w="2413000"/>
              </a:tblGrid>
              <a:tr h="43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Default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Pegasus Model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evidence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crime scene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investigator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incorrect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Culprit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suspect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